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Arial Narrow" panose="020B0606020202030204" pitchFamily="34" charset="0"/>
      <p:regular r:id="rId4"/>
      <p:bold r:id="rId5"/>
      <p:italic r:id="rId6"/>
      <p:boldItalic r:id="rId7"/>
    </p:embeddedFont>
    <p:embeddedFont>
      <p:font typeface="Open Sans" panose="020F0502020204030204" pitchFamily="34" charset="0"/>
      <p:regular r:id="rId8"/>
      <p:bold r:id="rId9"/>
      <p:italic r:id="rId10"/>
      <p:boldItalic r:id="rId11"/>
    </p:embeddedFont>
    <p:embeddedFont>
      <p:font typeface="Play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D8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7846" y="1143000"/>
            <a:ext cx="23823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2930" y="1646133"/>
            <a:ext cx="66066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800" cy="6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30305" y="2507618"/>
            <a:ext cx="6703800" cy="41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30305" y="6731214"/>
            <a:ext cx="6703800" cy="22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700"/>
              <a:buNone/>
              <a:defRPr sz="17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3303300" cy="6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3934778" y="2677584"/>
            <a:ext cx="3303300" cy="6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535365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535365" y="2465705"/>
            <a:ext cx="32880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535365" y="3674110"/>
            <a:ext cx="3288000" cy="54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3934778" y="2465705"/>
            <a:ext cx="33042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3934778" y="3674110"/>
            <a:ext cx="3304200" cy="54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0" cy="23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304282" y="1448225"/>
            <a:ext cx="3934800" cy="7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937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746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marL="2286000" lvl="4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marL="2743200" lvl="5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marL="3200400" lvl="6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marL="3657600" lvl="7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marL="4114800" lvl="8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535365" y="3017521"/>
            <a:ext cx="25068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0" cy="23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304282" y="1448225"/>
            <a:ext cx="3934800" cy="7147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535365" y="3017521"/>
            <a:ext cx="25068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695048" y="2516784"/>
            <a:ext cx="6382200" cy="6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2138198" y="3959567"/>
            <a:ext cx="85239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-1262381" y="2332067"/>
            <a:ext cx="8523900" cy="4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marL="2743200" lvl="5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800" cy="6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normAutofit/>
          </a:bodyPr>
          <a:lstStyle>
            <a:lvl1pPr marL="4572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dabeastservic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-99864"/>
            <a:ext cx="7772400" cy="1024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1618788"/>
            <a:ext cx="7772400" cy="8525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672149" y="261862"/>
            <a:ext cx="60555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</a:t>
            </a:r>
            <a:r>
              <a:rPr lang="en-US" sz="37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00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Catering LLC</a:t>
            </a:r>
            <a:endParaRPr sz="15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3" descr="A bull face with horn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262" y="271257"/>
            <a:ext cx="1094725" cy="10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341567" y="6501007"/>
            <a:ext cx="3357300" cy="225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sz="2600" b="1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</a:t>
            </a:r>
            <a:r>
              <a:rPr lang="en-US" sz="2000" b="0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…. </a:t>
            </a:r>
            <a:r>
              <a:rPr lang="en-US" sz="2000" b="1" i="0" u="none" strike="noStrike" cap="non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7</a:t>
            </a:r>
            <a:endParaRPr lang="en-US" sz="2000" b="1" i="0" u="none" strike="noStrike" cap="none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</a:t>
            </a:r>
            <a:r>
              <a:rPr lang="en-US" sz="2000" b="0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……………………………….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3"/>
          <p:cNvCxnSpPr/>
          <p:nvPr/>
        </p:nvCxnSpPr>
        <p:spPr>
          <a:xfrm>
            <a:off x="176323" y="2509620"/>
            <a:ext cx="7350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" name="Google Shape;96;p13"/>
          <p:cNvCxnSpPr/>
          <p:nvPr/>
        </p:nvCxnSpPr>
        <p:spPr>
          <a:xfrm>
            <a:off x="180313" y="7243303"/>
            <a:ext cx="7350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" name="Google Shape;97;p13"/>
          <p:cNvSpPr txBox="1"/>
          <p:nvPr/>
        </p:nvSpPr>
        <p:spPr>
          <a:xfrm>
            <a:off x="4047486" y="6501003"/>
            <a:ext cx="3491700" cy="31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Beverages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4.5</a:t>
            </a:r>
            <a:endParaRPr lang="en-US"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033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○"/>
            </a:pP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</a:t>
            </a:r>
            <a:br>
              <a:rPr lang="en-US" sz="15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from indigenous fruit </a:t>
            </a:r>
            <a:r>
              <a:rPr lang="en-US" sz="15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endParaRPr sz="15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lang="en-US"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033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○"/>
            </a:pP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Gatorade, Red Bull, Coke,</a:t>
            </a:r>
            <a:b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15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Sprite, Fanta, Iced Tea, etc.</a:t>
            </a: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048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607282" y="895974"/>
            <a:ext cx="28233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</a:t>
            </a:r>
            <a:r>
              <a:rPr lang="en-US" sz="18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243-2541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91;p1">
            <a:extLst>
              <a:ext uri="{FF2B5EF4-FFF2-40B4-BE49-F238E27FC236}">
                <a16:creationId xmlns:a16="http://schemas.microsoft.com/office/drawing/2014/main" id="{6C3E6655-7ABD-406F-9B2A-75B0018826B2}"/>
              </a:ext>
            </a:extLst>
          </p:cNvPr>
          <p:cNvSpPr/>
          <p:nvPr/>
        </p:nvSpPr>
        <p:spPr>
          <a:xfrm>
            <a:off x="403262" y="5157774"/>
            <a:ext cx="7039358" cy="1402418"/>
          </a:xfrm>
          <a:prstGeom prst="roundRect">
            <a:avLst>
              <a:gd name="adj" fmla="val 4489"/>
            </a:avLst>
          </a:prstGeom>
          <a:solidFill>
            <a:srgbClr val="3F3F3F"/>
          </a:solidFill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03733" y="1815534"/>
            <a:ext cx="7127100" cy="485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endParaRPr sz="4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5080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Cheeseburger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……………………………..................................</a:t>
            </a:r>
            <a:r>
              <a:rPr lang="en-US" sz="20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en-US" sz="2000" b="0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13.5</a:t>
            </a:r>
          </a:p>
          <a:p>
            <a:pPr marL="10033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Char char="○"/>
            </a:pPr>
            <a:r>
              <a:rPr lang="en-US" sz="20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With</a:t>
            </a:r>
            <a:r>
              <a:rPr lang="en-US" sz="20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bacon 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……………………….................................. </a:t>
            </a:r>
            <a:r>
              <a:rPr lang="en-US" sz="20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Add 1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.5</a:t>
            </a:r>
            <a:endParaRPr lang="en-US" sz="2000" b="1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508000" indent="-349250">
              <a:buClr>
                <a:schemeClr val="lt1"/>
              </a:buClr>
              <a:buSzPts val="1500"/>
              <a:buFont typeface="Arial Narrow"/>
              <a:buChar char="●"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Chicken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Sandwich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………….......................................</a:t>
            </a:r>
            <a:r>
              <a:rPr lang="en-US" sz="20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r>
              <a:rPr lang="en-US" sz="2000" b="0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</a:t>
            </a:r>
          </a:p>
          <a:p>
            <a:pPr marL="5080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Beer Brat 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………………………………....................................</a:t>
            </a:r>
            <a:r>
              <a:rPr lang="en-US" sz="20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..... </a:t>
            </a:r>
            <a:r>
              <a:rPr lang="en-US" sz="2000" b="0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10</a:t>
            </a:r>
            <a:endParaRPr sz="2000" b="1" i="0" u="none" strike="noStrike" cap="none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0033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Char char="○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Meal deal: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Chips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and drink ………………</a:t>
            </a:r>
            <a:r>
              <a:rPr lang="en-US" sz="20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.…</a:t>
            </a:r>
            <a:r>
              <a:rPr lang="en-US" sz="20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…..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r>
              <a:rPr lang="en-US" sz="2000" b="1" i="0" u="none" strike="noStrike" cap="none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Add 3</a:t>
            </a:r>
            <a:endParaRPr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5080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lang="en-US" sz="2000" b="1" i="0" u="none" strike="noStrike" cap="none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Pastelillos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………………………………........................................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en-US" sz="20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2000" b="1" i="0" u="none" strike="noStrike" cap="none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0033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Char char="○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Stuffed fried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empanadas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(beef and cheese)</a:t>
            </a:r>
          </a:p>
          <a:p>
            <a:pPr marL="10033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Char char="○"/>
            </a:pPr>
            <a:endParaRPr lang="en-US"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5080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lang="en-US" sz="2000" b="1" i="0" u="none" strike="noStrike" cap="none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Pincho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Fries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.........................................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........................................</a:t>
            </a:r>
            <a:r>
              <a:rPr lang="en-US" sz="20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18</a:t>
            </a:r>
            <a:endParaRPr lang="en-US" sz="2000" b="1" i="0" u="none" strike="noStrike" cap="none" dirty="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0033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Char char="○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Includes 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</a:t>
            </a:r>
            <a:r>
              <a:rPr lang="en-US" sz="20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icken, cheese, guava BBQ, and cilantro</a:t>
            </a:r>
            <a:endParaRPr lang="en-US" sz="200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5080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Regular Fries 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……………..……………..........................................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r>
              <a:rPr lang="en-US" sz="20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9</a:t>
            </a:r>
            <a:endParaRPr lang="en-US" sz="20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5080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lang="en-US" sz="20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Homestyle Fries</a:t>
            </a:r>
            <a:r>
              <a:rPr lang="en-US" sz="16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…….………………….........................................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r>
              <a:rPr lang="en-US" sz="2000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0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br>
              <a:rPr lang="en-US" sz="6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9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17D531-448D-4279-979C-624A02988018}"/>
              </a:ext>
            </a:extLst>
          </p:cNvPr>
          <p:cNvGrpSpPr/>
          <p:nvPr/>
        </p:nvGrpSpPr>
        <p:grpSpPr>
          <a:xfrm>
            <a:off x="616961" y="2980282"/>
            <a:ext cx="767339" cy="1263632"/>
            <a:chOff x="616961" y="2980282"/>
            <a:chExt cx="767339" cy="126363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2324FCD-CD66-4312-9CC3-289E20792CB3}"/>
                </a:ext>
              </a:extLst>
            </p:cNvPr>
            <p:cNvGrpSpPr/>
            <p:nvPr/>
          </p:nvGrpSpPr>
          <p:grpSpPr>
            <a:xfrm>
              <a:off x="616961" y="2980282"/>
              <a:ext cx="767339" cy="1263632"/>
              <a:chOff x="1832007" y="9525805"/>
              <a:chExt cx="2222636" cy="373029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FE03A10-83EE-4E62-8945-9652961EE2C4}"/>
                  </a:ext>
                </a:extLst>
              </p:cNvPr>
              <p:cNvSpPr/>
              <p:nvPr/>
            </p:nvSpPr>
            <p:spPr>
              <a:xfrm>
                <a:off x="2993011" y="12888450"/>
                <a:ext cx="1061632" cy="3676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89C2B68B-4555-4870-80E2-1E9EECA6FD23}"/>
                  </a:ext>
                </a:extLst>
              </p:cNvPr>
              <p:cNvCxnSpPr>
                <a:cxnSpLocks/>
                <a:endCxn id="15" idx="1"/>
              </p:cNvCxnSpPr>
              <p:nvPr/>
            </p:nvCxnSpPr>
            <p:spPr>
              <a:xfrm rot="16200000" flipH="1">
                <a:off x="639275" y="10718537"/>
                <a:ext cx="3546468" cy="1161003"/>
              </a:xfrm>
              <a:prstGeom prst="bentConnector2">
                <a:avLst/>
              </a:prstGeom>
              <a:ln w="19050" cap="rnd">
                <a:solidFill>
                  <a:schemeClr val="bg1"/>
                </a:solidFill>
                <a:prstDash val="sysDot"/>
                <a:round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3358302-2F07-4480-9FFB-A14A74C449C8}"/>
                </a:ext>
              </a:extLst>
            </p:cNvPr>
            <p:cNvGrpSpPr/>
            <p:nvPr/>
          </p:nvGrpSpPr>
          <p:grpSpPr>
            <a:xfrm flipV="1">
              <a:off x="1036708" y="3083798"/>
              <a:ext cx="90277" cy="330917"/>
              <a:chOff x="3085806" y="9913238"/>
              <a:chExt cx="264234" cy="968572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F62D70-9FD7-4545-88C9-F38645F769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5474" y="9913238"/>
                <a:ext cx="0" cy="968572"/>
              </a:xfrm>
              <a:prstGeom prst="line">
                <a:avLst/>
              </a:prstGeom>
              <a:ln w="19050" cap="rnd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DF4EC53-77B1-4B25-859B-4AFA5A873257}"/>
                  </a:ext>
                </a:extLst>
              </p:cNvPr>
              <p:cNvSpPr/>
              <p:nvPr/>
            </p:nvSpPr>
            <p:spPr>
              <a:xfrm>
                <a:off x="3085806" y="10228896"/>
                <a:ext cx="264234" cy="264232"/>
              </a:xfrm>
              <a:prstGeom prst="ellipse">
                <a:avLst/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Google Shape;101;p13">
            <a:extLst>
              <a:ext uri="{FF2B5EF4-FFF2-40B4-BE49-F238E27FC236}">
                <a16:creationId xmlns:a16="http://schemas.microsoft.com/office/drawing/2014/main" id="{E30ABE35-D4FA-EE83-1960-A049AB8CCF0F}"/>
              </a:ext>
            </a:extLst>
          </p:cNvPr>
          <p:cNvSpPr txBox="1"/>
          <p:nvPr/>
        </p:nvSpPr>
        <p:spPr>
          <a:xfrm>
            <a:off x="170226" y="9591846"/>
            <a:ext cx="34383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rgbClr val="8CD87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https://dabeastservices.com</a:t>
            </a:r>
            <a:endParaRPr sz="1800" b="0" i="1" u="none" strike="noStrike" cap="none" dirty="0">
              <a:solidFill>
                <a:srgbClr val="8CD8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00;p13" descr="A qr code with black squares&#10;&#10;Description automatically generated">
            <a:extLst>
              <a:ext uri="{FF2B5EF4-FFF2-40B4-BE49-F238E27FC236}">
                <a16:creationId xmlns:a16="http://schemas.microsoft.com/office/drawing/2014/main" id="{FD75A8D0-5999-DBF2-CF56-E141119DE5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1844" y="8808892"/>
            <a:ext cx="782375" cy="7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6;p13">
            <a:extLst>
              <a:ext uri="{FF2B5EF4-FFF2-40B4-BE49-F238E27FC236}">
                <a16:creationId xmlns:a16="http://schemas.microsoft.com/office/drawing/2014/main" id="{00A85C06-FB2E-820D-1C46-77DE5F7B5877}"/>
              </a:ext>
            </a:extLst>
          </p:cNvPr>
          <p:cNvSpPr txBox="1"/>
          <p:nvPr/>
        </p:nvSpPr>
        <p:spPr>
          <a:xfrm>
            <a:off x="423698" y="8865132"/>
            <a:ext cx="1894150" cy="60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>
              <a:buSzPts val="4000"/>
            </a:pPr>
            <a:r>
              <a:rPr lang="en-US" sz="1100" i="1" dirty="0">
                <a:solidFill>
                  <a:srgbClr val="8CD872"/>
                </a:solidFill>
                <a:latin typeface="Arial Narrow"/>
                <a:sym typeface="Arial Narrow"/>
              </a:rPr>
              <a:t>Customer is responsible for any </a:t>
            </a:r>
            <a:r>
              <a:rPr lang="en-US" sz="1100" i="1">
                <a:solidFill>
                  <a:srgbClr val="8CD872"/>
                </a:solidFill>
                <a:latin typeface="Arial Narrow"/>
                <a:sym typeface="Arial Narrow"/>
              </a:rPr>
              <a:t>allergen disclosures.</a:t>
            </a:r>
            <a:endParaRPr lang="en-US" sz="1100" i="1" dirty="0">
              <a:solidFill>
                <a:srgbClr val="8CD872"/>
              </a:solidFill>
              <a:latin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1100" i="1" dirty="0">
                <a:solidFill>
                  <a:srgbClr val="8CD872"/>
                </a:solidFill>
                <a:latin typeface="Arial Narrow"/>
                <a:sym typeface="Arial Narrow"/>
              </a:rPr>
              <a:t>Listed prices are the cash price.</a:t>
            </a:r>
            <a:endParaRPr lang="en-US" sz="1100" i="1" u="none" strike="noStrike" cap="none" dirty="0">
              <a:solidFill>
                <a:srgbClr val="8CD872"/>
              </a:solidFill>
              <a:latin typeface="Arial Narrow"/>
              <a:ea typeface="Arial"/>
              <a:cs typeface="Arial"/>
              <a:sym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150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Play</vt:lpstr>
      <vt:lpstr>Open Sans</vt:lpstr>
      <vt:lpstr>Arial</vt:lpstr>
      <vt:lpstr>Arial Narrow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Simeon Wuthier</dc:creator>
  <cp:lastModifiedBy>Simeon Wuthier</cp:lastModifiedBy>
  <cp:revision>35</cp:revision>
  <dcterms:modified xsi:type="dcterms:W3CDTF">2026-01-04T01:21:39Z</dcterms:modified>
</cp:coreProperties>
</file>